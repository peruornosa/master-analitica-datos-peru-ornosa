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8" r:id="rId2"/>
    <p:sldId id="270" r:id="rId3"/>
    <p:sldId id="269" r:id="rId4"/>
    <p:sldId id="271" r:id="rId5"/>
    <p:sldId id="272" r:id="rId6"/>
    <p:sldId id="263" r:id="rId7"/>
    <p:sldId id="275" r:id="rId8"/>
    <p:sldId id="273" r:id="rId9"/>
    <p:sldId id="261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91B52-7E29-4A0A-82BC-5544808F87F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FD94D-6FA0-4AD7-A8C4-8D399BD2F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65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9B5800B-E6BF-4CF4-94BA-0E0952C5AA9A}" type="datetime5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5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5D0EF-A797-430D-98A9-14E756BE798E}" type="datetime5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0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F69DC-B599-4353-B582-A85ACE67BCFE}" type="datetime5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2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29C86-8CC8-48A9-94DD-ADD35B9E38A0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5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ACD0-8A75-460D-A7AA-593605BF4DAE}" type="datetime5">
              <a:rPr lang="en-US" smtClean="0"/>
              <a:t>11-Nov-25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5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9C647-4008-434B-9256-31F69C86904F}" type="datetime5">
              <a:rPr lang="en-US" smtClean="0"/>
              <a:t>11-Nov-25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85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DA1-0CD8-4602-85ED-706A94961DEF}" type="datetime5">
              <a:rPr lang="en-US" smtClean="0"/>
              <a:t>11-Nov-25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227EA-DCDB-4337-8E5D-F7B0E861AAD9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88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43648-0F15-40FA-A8A2-C7A720BD9C02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66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3C548-A262-4B3D-BF43-31C92F522BA9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2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62FBE-3896-4ED7-940E-E0B802A4EE8A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39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66FC-B180-4E70-9482-28263774F6D5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1388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5747-9C79-4AF9-9DFD-88981727D216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92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5532-8473-4CC0-B495-66593F4EF0E8}" type="datetime5">
              <a:rPr lang="en-US" smtClean="0"/>
              <a:t>11-Nov-25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35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AA91-1FEA-48E9-A831-8048EA009414}" type="datetime5">
              <a:rPr lang="en-US" smtClean="0"/>
              <a:t>11-Nov-25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33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41A2-090B-44AE-850A-23B745BBD026}" type="datetime5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66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D4497-F424-4594-A708-70F99FE49C8B}" type="datetime5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1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E337B-BAD6-47AD-92D6-7C76EE6BD496}" type="datetime5">
              <a:rPr lang="en-US" smtClean="0"/>
              <a:t>11-Nov-25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57FE7-550A-4797-BEC6-459F0D579F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72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F62DF8-1DA5-8C31-0510-0E1BBEC5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4E25BA-5A4E-D418-9FC1-94887501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698E9984-0D5E-1B32-E41E-1097463B4B80}"/>
              </a:ext>
            </a:extLst>
          </p:cNvPr>
          <p:cNvSpPr txBox="1">
            <a:spLocks/>
          </p:cNvSpPr>
          <p:nvPr/>
        </p:nvSpPr>
        <p:spPr>
          <a:xfrm>
            <a:off x="1899160" y="109334"/>
            <a:ext cx="8393680" cy="1197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RESULTADOS Y HABITOS DE ESTUDIANTES </a:t>
            </a:r>
            <a:endParaRPr lang="en-US" sz="44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5FD969-1561-327D-70C6-F7C9D9586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205276"/>
              </p:ext>
            </p:extLst>
          </p:nvPr>
        </p:nvGraphicFramePr>
        <p:xfrm>
          <a:off x="3621482" y="1398044"/>
          <a:ext cx="4863737" cy="43891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94857">
                  <a:extLst>
                    <a:ext uri="{9D8B030D-6E8A-4147-A177-3AD203B41FA5}">
                      <a16:colId xmlns:a16="http://schemas.microsoft.com/office/drawing/2014/main" val="2874057956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1492316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chemeClr val="bg1"/>
                          </a:solidFill>
                          <a:latin typeface="Arial Nova Cond" panose="020F0502020204030204" pitchFamily="34" charset="0"/>
                        </a:rPr>
                        <a:t>VARIABLES NUMÉRICAS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Nova Cond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chemeClr val="bg1"/>
                          </a:solidFill>
                          <a:latin typeface="Arial Nova Cond" panose="020F0502020204030204" pitchFamily="34" charset="0"/>
                        </a:rPr>
                        <a:t>VARIABLES CATEGÓRICAS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Nova Cond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24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EDAD</a:t>
                      </a:r>
                      <a:endParaRPr lang="es-ES" sz="1600" dirty="0">
                        <a:latin typeface="Arial Nova Cond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CALIDAD DE LA DIETA</a:t>
                      </a:r>
                      <a:endParaRPr lang="en-US" sz="1600" dirty="0">
                        <a:latin typeface="Arial Nova Cond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85818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HORAS DE ESTUDIO AL DIA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CALIDAD DEL INTERNET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828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HORAS DE REDES SOCIALES AL DIA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EDUCACIÓN DE LOS PADRES</a:t>
                      </a:r>
                      <a:endParaRPr lang="en-US" sz="1600" dirty="0"/>
                    </a:p>
                    <a:p>
                      <a:pPr algn="ctr"/>
                      <a:endParaRPr lang="en-US" sz="1600" dirty="0">
                        <a:latin typeface="Arial Nova Cond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271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HORAS DE NETFLIX AL DIA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PARTCIPACION EXTRACURRICULAR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439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PORCENTAJE DE ASISTENCIA A CLASE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SALUD MENTAL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0879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HORAS DE SUEÑO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TRABAJO A TIEMPO PARCIAL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431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DIAS DE EJERCICIO SEMANALES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dirty="0"/>
                        <a:t>ID del ESTUDIANTE</a:t>
                      </a:r>
                      <a:endParaRPr lang="en-US" sz="1600" b="0" dirty="0">
                        <a:latin typeface="Arial Nova Cond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74486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3B1535-33D5-51A5-F3E4-A4E2CA264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073691"/>
              </p:ext>
            </p:extLst>
          </p:nvPr>
        </p:nvGraphicFramePr>
        <p:xfrm>
          <a:off x="9255041" y="2863181"/>
          <a:ext cx="2272930" cy="20726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72930">
                  <a:extLst>
                    <a:ext uri="{9D8B030D-6E8A-4147-A177-3AD203B41FA5}">
                      <a16:colId xmlns:a16="http://schemas.microsoft.com/office/drawing/2014/main" val="1492316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VARIABLES PRINCIPALES</a:t>
                      </a:r>
                      <a:endParaRPr lang="en-US" sz="1600" dirty="0">
                        <a:solidFill>
                          <a:schemeClr val="bg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2437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NOTA NUMÉRICA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8581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NOTA CATEGÓRICA (BINARIA)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8281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NOTA CATEGÓRICA (PROGRESIVA)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43974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60AD7C-CEC9-909E-B612-4F5E05ACD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119779"/>
              </p:ext>
            </p:extLst>
          </p:nvPr>
        </p:nvGraphicFramePr>
        <p:xfrm>
          <a:off x="946660" y="3228941"/>
          <a:ext cx="1905000" cy="1097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92316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REGISTROS</a:t>
                      </a:r>
                      <a:endParaRPr lang="en-US" sz="2000" dirty="0">
                        <a:solidFill>
                          <a:schemeClr val="bg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62437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 Nova Cond" panose="020B0506020202020204" pitchFamily="34" charset="0"/>
                        </a:rPr>
                        <a:t>1000 ESTUDIANTES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858185"/>
                  </a:ext>
                </a:extLst>
              </a:tr>
            </a:tbl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9B4551EA-3B10-6261-3534-11059D6E001F}"/>
              </a:ext>
            </a:extLst>
          </p:cNvPr>
          <p:cNvSpPr/>
          <p:nvPr/>
        </p:nvSpPr>
        <p:spPr>
          <a:xfrm>
            <a:off x="3083724" y="3597433"/>
            <a:ext cx="359228" cy="3651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64A6096-7DF8-F334-C4F5-D29104C6CBCC}"/>
              </a:ext>
            </a:extLst>
          </p:cNvPr>
          <p:cNvSpPr/>
          <p:nvPr/>
        </p:nvSpPr>
        <p:spPr>
          <a:xfrm>
            <a:off x="8711840" y="3597433"/>
            <a:ext cx="359228" cy="365125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5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EF2B-D4EF-7649-2264-A90ABAF7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E8FEFC-1B14-217A-2B02-0E26DEC6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B8D334-3079-1E8F-6DEE-23AFD40D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95B94C-5A94-13B2-CD51-2DDDD8C7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63" y="0"/>
            <a:ext cx="11366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7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A7AD-AD37-2377-7938-53CB4E871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63CEE2-34C4-3062-2C2C-06F6CB6B4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3236B-8F87-88C1-6DCF-ED8DE63572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558E6C-CF91-90E3-EB9F-530DB176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0" y="0"/>
            <a:ext cx="11476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2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7384-290A-3DA8-2F10-CEEE464F4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69508B-263C-AE1A-EC92-94E42264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10DDF-CDE6-1503-BBBC-9F7A6DA4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03CC518F-2E41-D4A4-F11A-DE77D6E2E528}"/>
              </a:ext>
            </a:extLst>
          </p:cNvPr>
          <p:cNvSpPr txBox="1">
            <a:spLocks/>
          </p:cNvSpPr>
          <p:nvPr/>
        </p:nvSpPr>
        <p:spPr>
          <a:xfrm>
            <a:off x="3241022" y="10886"/>
            <a:ext cx="5709955" cy="1197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NOTAS DE LOS ESTUDIANTES </a:t>
            </a:r>
            <a:endParaRPr lang="en-US" sz="44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EFAA62-7439-F262-3855-4AFCB54FC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5107"/>
            <a:ext cx="12192000" cy="424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74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E5000-C510-5B0C-7105-AD76BEC73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014F90-8449-877C-10AE-57CD18FC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53A04-85F9-A793-9036-87B92597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520D378F-9B80-A6CD-AFB8-FF83700DA709}"/>
              </a:ext>
            </a:extLst>
          </p:cNvPr>
          <p:cNvSpPr txBox="1">
            <a:spLocks/>
          </p:cNvSpPr>
          <p:nvPr/>
        </p:nvSpPr>
        <p:spPr>
          <a:xfrm>
            <a:off x="1004007" y="87085"/>
            <a:ext cx="10183983" cy="1197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CORRELACIONES VARIABLES CATEGÓRICAS Y NOTAS</a:t>
            </a:r>
            <a:endParaRPr lang="en-US" sz="44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1A2860-646E-03F3-51F5-80D4271554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62464"/>
              </p:ext>
            </p:extLst>
          </p:nvPr>
        </p:nvGraphicFramePr>
        <p:xfrm>
          <a:off x="1875655" y="1645920"/>
          <a:ext cx="8440686" cy="3566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62362">
                  <a:extLst>
                    <a:ext uri="{9D8B030D-6E8A-4147-A177-3AD203B41FA5}">
                      <a16:colId xmlns:a16="http://schemas.microsoft.com/office/drawing/2014/main" val="2874057956"/>
                    </a:ext>
                  </a:extLst>
                </a:gridCol>
                <a:gridCol w="1577724">
                  <a:extLst>
                    <a:ext uri="{9D8B030D-6E8A-4147-A177-3AD203B41FA5}">
                      <a16:colId xmlns:a16="http://schemas.microsoft.com/office/drawing/2014/main" val="1492316978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527430415"/>
                    </a:ext>
                  </a:extLst>
                </a:gridCol>
                <a:gridCol w="3385457">
                  <a:extLst>
                    <a:ext uri="{9D8B030D-6E8A-4147-A177-3AD203B41FA5}">
                      <a16:colId xmlns:a16="http://schemas.microsoft.com/office/drawing/2014/main" val="1440301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VARIABLES CATEGÓRICAS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F-STATISTIC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P-VALUE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TUKEY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24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CALIDAD DE LA DIETA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0.7543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0.5551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latin typeface="Arial Nova Cond" panose="020B0506020202020204" pitchFamily="34" charset="0"/>
                        </a:rPr>
                        <a:t>SIN DIFERENCIAS ENTRE CATEGORÍAS</a:t>
                      </a:r>
                      <a:endParaRPr lang="en-US" sz="1600" b="1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85818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CALIDAD DEL INTERNET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1.1856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0.3140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latin typeface="Arial Nova Cond" panose="020B0506020202020204" pitchFamily="34" charset="0"/>
                        </a:rPr>
                        <a:t>SIN DIFERENCIAS ENTRE CATEGORÍAS</a:t>
                      </a:r>
                      <a:endParaRPr lang="en-US" sz="1600" b="1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828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EDUCACIÓN DE LOS PADRES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0.6556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0.5795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latin typeface="Arial Nova Cond" panose="020B0506020202020204" pitchFamily="34" charset="0"/>
                        </a:rPr>
                        <a:t>SIN DIFERENCIAS ENTRE CATEGORÍAS</a:t>
                      </a:r>
                      <a:endParaRPr lang="en-US" sz="1600" b="1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271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PARTCIPACION EXTRACURRICULAR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0.0158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Arial Nova Cond" panose="020B0506020202020204" pitchFamily="34" charset="0"/>
                        </a:rPr>
                        <a:t>0.9842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latin typeface="Arial Nova Cond" panose="020B0506020202020204" pitchFamily="34" charset="0"/>
                        </a:rPr>
                        <a:t>SIN DIFERENCIAS ENTRE CATEGORÍAS</a:t>
                      </a:r>
                      <a:endParaRPr lang="en-US" sz="1600" b="1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439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TRABAJO A TIEMPO PARCIAL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0.7282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>
                          <a:latin typeface="Arial Nova Cond" panose="020B0506020202020204" pitchFamily="34" charset="0"/>
                        </a:rPr>
                        <a:t>0.3937</a:t>
                      </a:r>
                      <a:endParaRPr lang="en-US" sz="160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latin typeface="Arial Nova Cond" panose="020B0506020202020204" pitchFamily="34" charset="0"/>
                        </a:rPr>
                        <a:t>SIN DIFERENCIAS ENTRE CATEGORÍAS</a:t>
                      </a:r>
                      <a:endParaRPr lang="en-US" sz="1600" b="1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7431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dirty="0">
                          <a:latin typeface="Arial Nova Cond" panose="020B0506020202020204" pitchFamily="34" charset="0"/>
                        </a:rPr>
                        <a:t>GENERO</a:t>
                      </a:r>
                      <a:endParaRPr lang="en-US" sz="1600" b="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dirty="0">
                          <a:latin typeface="Arial Nova Cond" panose="020B0506020202020204" pitchFamily="34" charset="0"/>
                        </a:rPr>
                        <a:t>0.3751</a:t>
                      </a:r>
                      <a:endParaRPr lang="en-US" sz="1600" b="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0" dirty="0">
                          <a:latin typeface="Arial Nova Cond" panose="020B0506020202020204" pitchFamily="34" charset="0"/>
                        </a:rPr>
                        <a:t>0.6872</a:t>
                      </a:r>
                      <a:endParaRPr lang="en-US" sz="1600" b="0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>
                          <a:latin typeface="Arial Nova Cond" panose="020B0506020202020204" pitchFamily="34" charset="0"/>
                        </a:rPr>
                        <a:t>SIN DIFERENCIAS ENTRE CATEGORÍAS</a:t>
                      </a:r>
                      <a:endParaRPr lang="en-US" sz="1600" b="1" dirty="0">
                        <a:latin typeface="Arial Nova Cond" panose="020B0506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6744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22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DBE5B-2EED-3E87-0CBB-493E271C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08" y="0"/>
            <a:ext cx="1100658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B00AB-ECBA-316F-E89B-DE2EB53DF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4DAFB-B02E-9B6F-A7F0-CAAC7AEA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A7C7-4DFE-48EE-9275-60974841FB5B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28F7E-5A3B-6E88-C15A-CF013043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70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74B4-9306-1C3F-0747-075D3174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D842D4-1F73-A737-C6CF-B71231EA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4E15A-CCF5-C5F4-DEAC-5A253C70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385F751-3D13-CFFB-57EB-02B056990AF1}"/>
              </a:ext>
            </a:extLst>
          </p:cNvPr>
          <p:cNvSpPr txBox="1">
            <a:spLocks/>
          </p:cNvSpPr>
          <p:nvPr/>
        </p:nvSpPr>
        <p:spPr>
          <a:xfrm>
            <a:off x="1004008" y="109811"/>
            <a:ext cx="10183983" cy="1197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CORRELACIONES VARIABLES CATEGÓRICAS Y NOTAS</a:t>
            </a:r>
            <a:endParaRPr lang="en-US" sz="44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4D870A-9AA4-442D-CD23-A4574C8A6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01" y="1074555"/>
            <a:ext cx="6372795" cy="506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10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E1DC-82DE-1A05-3E51-637809E53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B29D11-6361-DF31-4C5B-A8A4372C2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54B7BD-4E85-BAD9-C636-1B6ACE7F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C70755F-F1A6-C965-6E9B-CBBD51C9808C}"/>
              </a:ext>
            </a:extLst>
          </p:cNvPr>
          <p:cNvSpPr txBox="1">
            <a:spLocks/>
          </p:cNvSpPr>
          <p:nvPr/>
        </p:nvSpPr>
        <p:spPr>
          <a:xfrm>
            <a:off x="1004008" y="0"/>
            <a:ext cx="10183983" cy="1197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CORRELACIONES VARIABLES </a:t>
            </a:r>
            <a:r>
              <a:rPr lang="es-ES" sz="4400" b="1" dirty="0" err="1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NUmÉRICAS</a:t>
            </a:r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 Y NOTAS</a:t>
            </a:r>
            <a:endParaRPr lang="en-US" sz="44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04A0D-9B7B-0F79-B185-62836303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4" t="3577" r="781"/>
          <a:stretch>
            <a:fillRect/>
          </a:stretch>
        </p:blipFill>
        <p:spPr>
          <a:xfrm>
            <a:off x="1516466" y="1033503"/>
            <a:ext cx="9159065" cy="509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0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A062B-D2C2-EEDE-6F1C-A83BC9CE1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23" y="0"/>
            <a:ext cx="10916553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76C89-FEAD-8646-1052-49558A84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Peru Ornosa - Python (Proyecto Final)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F657CE-E258-B478-1DA4-8E9A92D64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4171F-B0F5-4874-B67A-6475DE6B1369}" type="datetime5">
              <a:rPr lang="en-US" smtClean="0"/>
              <a:t>11-Nov-25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DD52-62F5-618B-6A95-CB89768F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57FE7-550A-4797-BEC6-459F0D579F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5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08F19-EB99-C879-3F87-C3C7D3194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F20084-A987-A886-62FA-30C3E16D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640" y="6248399"/>
            <a:ext cx="6239309" cy="365125"/>
          </a:xfrm>
        </p:spPr>
        <p:txBody>
          <a:bodyPr/>
          <a:lstStyle/>
          <a:p>
            <a:r>
              <a:rPr lang="es-ES" sz="20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Peru Ornosa - Python (Proyecto Final)</a:t>
            </a:r>
            <a:endParaRPr lang="en-US" sz="20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0FE16-86C8-A914-B3B5-7C22A529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91160" y="6248399"/>
            <a:ext cx="2743200" cy="365125"/>
          </a:xfrm>
        </p:spPr>
        <p:txBody>
          <a:bodyPr/>
          <a:lstStyle/>
          <a:p>
            <a:fld id="{01FBC4F6-2D4A-40DE-A079-660E2DF30495}" type="datetime5">
              <a:rPr lang="en-US" sz="2000" b="1" smtClean="0">
                <a:latin typeface="Agency FB" panose="020B0503020202020204" pitchFamily="34" charset="0"/>
              </a:rPr>
              <a:t>11-Nov-25</a:t>
            </a:fld>
            <a:endParaRPr lang="en-US" sz="2000" b="1" dirty="0">
              <a:latin typeface="Agency FB" panose="020B0503020202020204" pitchFamily="34" charset="0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13DE2A6-488A-18E2-64B3-8436C6AAB172}"/>
              </a:ext>
            </a:extLst>
          </p:cNvPr>
          <p:cNvSpPr txBox="1">
            <a:spLocks/>
          </p:cNvSpPr>
          <p:nvPr/>
        </p:nvSpPr>
        <p:spPr>
          <a:xfrm>
            <a:off x="1899160" y="120220"/>
            <a:ext cx="8393680" cy="1197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50" kern="1200" cap="all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4400" b="1" dirty="0">
                <a:solidFill>
                  <a:schemeClr val="tx1"/>
                </a:solidFill>
                <a:latin typeface="Agency FB" panose="020B0503020202020204" pitchFamily="34" charset="0"/>
                <a:cs typeface="Aldhabi" panose="01000000000000000000" pitchFamily="2" charset="-78"/>
              </a:rPr>
              <a:t>CONCLUSIONES</a:t>
            </a:r>
            <a:endParaRPr lang="en-US" sz="4400" b="1" dirty="0">
              <a:solidFill>
                <a:schemeClr val="tx1"/>
              </a:solidFill>
              <a:latin typeface="Agency FB" panose="020B0503020202020204" pitchFamily="34" charset="0"/>
              <a:cs typeface="Aldhabi" panose="01000000000000000000" pitchFamily="2" charset="-7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F9233C-B553-4EDE-2B61-86702C495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140106"/>
              </p:ext>
            </p:extLst>
          </p:nvPr>
        </p:nvGraphicFramePr>
        <p:xfrm>
          <a:off x="736962" y="1219200"/>
          <a:ext cx="10718076" cy="477882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0718076">
                  <a:extLst>
                    <a:ext uri="{9D8B030D-6E8A-4147-A177-3AD203B41FA5}">
                      <a16:colId xmlns:a16="http://schemas.microsoft.com/office/drawing/2014/main" val="1492316978"/>
                    </a:ext>
                  </a:extLst>
                </a:gridCol>
              </a:tblGrid>
              <a:tr h="1343706">
                <a:tc>
                  <a:txBody>
                    <a:bodyPr/>
                    <a:lstStyle/>
                    <a:p>
                      <a:pPr algn="l"/>
                      <a:r>
                        <a:rPr lang="es-ES" sz="180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GRUPO DE ESTUDIANTES VARIADO Y DIVERSO: </a:t>
                      </a: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Representación similar y suficiente de las categorías de las variables categóricas, como el género, la calidad de la dieta y del internet o de la educación de los padres.</a:t>
                      </a:r>
                    </a:p>
                    <a:p>
                      <a:pPr algn="l"/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Con excepción de variables como tener un trabajo a tiempo parcial o la participación en actividades extracurriculares donde predomina el “NO”.</a:t>
                      </a:r>
                      <a:endParaRPr lang="es-ES" sz="1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243701"/>
                  </a:ext>
                </a:extLst>
              </a:tr>
              <a:tr h="85878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VARIABLES NUMÉRICAS CON VALORES ESPERADOS Y RAZONABLES: </a:t>
                      </a: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Los valores centrales de todas las variables numéricas tienen sentido y entran dentro de los esperable.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858185"/>
                  </a:ext>
                </a:extLst>
              </a:tr>
              <a:tr h="85878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BUENOS RESULTADOS ACADÉMICOS: </a:t>
                      </a: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Casi el 90% de los alumnos aprueban y el notable es la nota más repetida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239273"/>
                  </a:ext>
                </a:extLst>
              </a:tr>
              <a:tr h="85878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CORRELACIÓN ALTA  DE RESULTADOS CON LAS HORAS DE ESTUDIO: </a:t>
                      </a:r>
                      <a:r>
                        <a:rPr lang="es-ES" sz="1800" b="0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087032"/>
                  </a:ext>
                </a:extLst>
              </a:tr>
              <a:tr h="858780">
                <a:tc>
                  <a:txBody>
                    <a:bodyPr/>
                    <a:lstStyle/>
                    <a:p>
                      <a:pPr algn="l"/>
                      <a:r>
                        <a:rPr lang="es-ES" sz="1800" b="1" dirty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CORRELACIÓN MUY DÉBIL CON HORAS DE NETFLIX, REDES SOCIALES, EJERCICIO O SALUD MENTAL Y NULA CON EL RESTO DE VARIABLES.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038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6587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416</TotalTime>
  <Words>389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Agency FB</vt:lpstr>
      <vt:lpstr>Aptos</vt:lpstr>
      <vt:lpstr>Arial</vt:lpstr>
      <vt:lpstr>Arial Nova Cond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DuPont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Ornosa Miravalles, Peru</dc:creator>
  <cp:lastModifiedBy>Ornosa Miravalles, Peru</cp:lastModifiedBy>
  <cp:revision>1</cp:revision>
  <dcterms:created xsi:type="dcterms:W3CDTF">2025-11-11T07:51:43Z</dcterms:created>
  <dcterms:modified xsi:type="dcterms:W3CDTF">2025-11-11T14:48:28Z</dcterms:modified>
</cp:coreProperties>
</file>